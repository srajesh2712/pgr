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Subramanian" userId="b69f4351-f57b-4581-9832-64f0c666072b" providerId="ADAL" clId="{60BF0492-453B-471C-984F-39AF87A21458}"/>
    <pc:docChg chg="delSld modSld">
      <pc:chgData name="Rajesh Subramanian" userId="b69f4351-f57b-4581-9832-64f0c666072b" providerId="ADAL" clId="{60BF0492-453B-471C-984F-39AF87A21458}" dt="2026-09-14T15:08:47.288" v="1" actId="47"/>
      <pc:docMkLst>
        <pc:docMk/>
      </pc:docMkLst>
      <pc:sldChg chg="modSp">
        <pc:chgData name="Rajesh Subramanian" userId="b69f4351-f57b-4581-9832-64f0c666072b" providerId="ADAL" clId="{60BF0492-453B-471C-984F-39AF87A21458}" dt="2026-09-13T06:13:27.346" v="0"/>
        <pc:sldMkLst>
          <pc:docMk/>
          <pc:sldMk cId="0" sldId="257"/>
        </pc:sldMkLst>
        <pc:spChg chg="mod">
          <ac:chgData name="Rajesh Subramanian" userId="b69f4351-f57b-4581-9832-64f0c666072b" providerId="ADAL" clId="{60BF0492-453B-471C-984F-39AF87A21458}" dt="2026-09-13T06:13:27.346" v="0"/>
          <ac:spMkLst>
            <pc:docMk/>
            <pc:sldMk cId="0" sldId="257"/>
            <ac:spMk id="12" creationId="{00000000-0000-0000-0000-000000000000}"/>
          </ac:spMkLst>
        </pc:spChg>
      </pc:sldChg>
      <pc:sldChg chg="del">
        <pc:chgData name="Rajesh Subramanian" userId="b69f4351-f57b-4581-9832-64f0c666072b" providerId="ADAL" clId="{60BF0492-453B-471C-984F-39AF87A21458}" dt="2026-09-14T15:08:47.288" v="1" actId="47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743075"/>
            <a:ext cx="4314825" cy="266700"/>
          </a:xfrm>
          <a:prstGeom prst="roundRect">
            <a:avLst>
              <a:gd name="adj" fmla="val 50000"/>
            </a:avLst>
          </a:prstGeom>
          <a:solidFill>
            <a:srgbClr val="2C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4476750"/>
            <a:ext cx="11049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814512"/>
            <a:ext cx="161925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1800225"/>
            <a:ext cx="3867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D4AF37"/>
                </a:solidFill>
                <a:latin typeface="Outfit"/>
              </a:rPr>
              <a:t>UCD PAPER PRESENTATION • AI WEATHER FORECASTING</a:t>
            </a:r>
            <a:r>
              <a:rPr lang="en-IN" sz="975" b="1" i="0" u="none" dirty="0">
                <a:solidFill>
                  <a:srgbClr val="D4AF37"/>
                </a:solidFill>
                <a:latin typeface="Outfit"/>
              </a:rPr>
              <a:t> Sept 14, 2026</a:t>
            </a:r>
            <a:endParaRPr sz="975" b="1" i="0" u="none" dirty="0">
              <a:solidFill>
                <a:srgbClr val="D4AF37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2162175"/>
            <a:ext cx="1162050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>
                <a:solidFill>
                  <a:srgbClr val="FFFFFF"/>
                </a:solidFill>
                <a:latin typeface="Outfit"/>
              </a:rPr>
              <a:t>KARINA: An Efficient Deep Learning Model for Global Weather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562350"/>
            <a:ext cx="8667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breakthrough $2.5^\circ$ resolution model delivering high-accuracy weather predictions in under 12 hours of training on 4 NVIDIA A100 GPUs.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14875"/>
            <a:ext cx="447675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900612"/>
            <a:ext cx="4476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M. Cheon, Y. Choi, S. Kang, Y. Choi, J. Lee, D. 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4714875"/>
            <a:ext cx="4417218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8650" y="4900612"/>
            <a:ext cx="4417218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4AF37"/>
                </a:solidFill>
                <a:latin typeface="Inter"/>
              </a:rPr>
              <a:t>KIST Center for Sustainable Environment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8175" y="4714875"/>
            <a:ext cx="2976562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PUBLICATION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8175" y="4900612"/>
            <a:ext cx="297656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arXiv:2403.10555v1 (March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1381125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85987"/>
            <a:ext cx="5334000" cy="2000250"/>
          </a:xfrm>
          <a:prstGeom prst="roundRect">
            <a:avLst>
              <a:gd name="adj" fmla="val 7619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5503" y="2017531"/>
            <a:ext cx="45719" cy="1788929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3335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71662"/>
            <a:ext cx="5334000" cy="419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871662"/>
            <a:ext cx="5334000" cy="419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3450" y="533400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The Computational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051410"/>
            <a:ext cx="5912879" cy="3447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State-of-the-art weather AI models require </a:t>
            </a:r>
            <a:r>
              <a:rPr lang="en-US" sz="3200" dirty="0" err="1"/>
              <a:t>massivecomputing</a:t>
            </a:r>
            <a:r>
              <a:rPr lang="en-US" sz="3200" dirty="0"/>
              <a:t> resources​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Pangu-Weather: 192 GPUs for 64 days​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KARINA aims to deliver similar accuracy with far </a:t>
            </a:r>
            <a:r>
              <a:rPr lang="en-US" sz="3200" dirty="0" err="1"/>
              <a:t>lowercost</a:t>
            </a:r>
            <a:r>
              <a:rPr lang="en-US" sz="3200" dirty="0"/>
              <a:t>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7452" y="3500437"/>
            <a:ext cx="1420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1F5F9"/>
                </a:solidFill>
                <a:latin typeface="Inter"/>
              </a:rPr>
              <a:t>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49B3A2-079B-CCB2-5FBA-D4E14287DB36}"/>
              </a:ext>
            </a:extLst>
          </p:cNvPr>
          <p:cNvSpPr txBox="1"/>
          <p:nvPr/>
        </p:nvSpPr>
        <p:spPr>
          <a:xfrm>
            <a:off x="6877881" y="6536531"/>
            <a:ext cx="619125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https://nvidianews.nvidia.com/_gallery/get_file/?file_id=682989ae3d6332f015179abf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913A90-E5D0-7DE6-784A-E19E8855A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238" y="1871661"/>
            <a:ext cx="5279162" cy="35213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1600200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1962150"/>
            <a:ext cx="53340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6500" y="3362325"/>
            <a:ext cx="53340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86500" y="4762500"/>
            <a:ext cx="53340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5240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81162"/>
            <a:ext cx="533400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81162"/>
            <a:ext cx="5334000" cy="457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295525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695700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5095875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533400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KARINA Architecture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2266950"/>
            <a:ext cx="5295900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3366"/>
                </a:solidFill>
                <a:latin typeface="Outfit"/>
              </a:rPr>
              <a:t>ConvNeXt Backbone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609850"/>
            <a:ext cx="5676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Modernized deep spatial feature extraction.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950" y="3667125"/>
            <a:ext cx="5353050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3366"/>
                </a:solidFill>
                <a:latin typeface="Outfit"/>
              </a:rPr>
              <a:t>Geocyclic Padding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010025"/>
            <a:ext cx="5676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Eliminates artificial edge discontinuities.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525" y="5067300"/>
            <a:ext cx="532447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3366"/>
                </a:solidFill>
                <a:latin typeface="Outfit"/>
              </a:rPr>
              <a:t>SENet Recalibration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5410200"/>
            <a:ext cx="5676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Dynamically weights 66 atmospheric variables.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37972E-FF30-C8C9-CA3B-F888B9F20B3B}"/>
              </a:ext>
            </a:extLst>
          </p:cNvPr>
          <p:cNvSpPr txBox="1"/>
          <p:nvPr/>
        </p:nvSpPr>
        <p:spPr>
          <a:xfrm>
            <a:off x="638175" y="6409974"/>
            <a:ext cx="890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https://elements-resized.envatousercontent.com/elements-video-cover-images/2ee0cc55-7376-4c5b-83b9-79768a13fb83/video_preview/video_preview_0000.jpg?w=500&amp;cf_fit=cover&amp;q=85&amp;format=auto&amp;s=ad6f66c219e04d5e23509c627e5cd217a4dd527d4fab84887f60af5f52ff5f11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2171700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86500" y="2967037"/>
            <a:ext cx="10795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66099" y="2967037"/>
            <a:ext cx="1325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91562" y="2967037"/>
            <a:ext cx="1346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38308" y="2967037"/>
            <a:ext cx="1582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86500" y="3461444"/>
            <a:ext cx="10795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6099" y="3461444"/>
            <a:ext cx="1325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91562" y="3461444"/>
            <a:ext cx="1346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38308" y="3461444"/>
            <a:ext cx="1582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6500" y="3955851"/>
            <a:ext cx="10795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6099" y="3955851"/>
            <a:ext cx="1325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91562" y="3955851"/>
            <a:ext cx="1346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38308" y="3955851"/>
            <a:ext cx="1582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28808" y="3118544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28808" y="3612951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28808" y="4107358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333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1737"/>
            <a:ext cx="11049000" cy="299085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86500" y="2471737"/>
            <a:ext cx="5334000" cy="197852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86500" y="2471737"/>
          <a:ext cx="5333998" cy="1978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6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1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7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vs ECMWF S2S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Z500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52.78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463.65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T850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T2M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33450" y="533400"/>
            <a:ext cx="1752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EXPERIMENTAL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Compute Benchmarks &amp; Forecasting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678858"/>
            <a:ext cx="5429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475569"/>
                </a:solidFill>
                <a:latin typeface="Inter"/>
              </a:rPr>
              <a:t>*KARINA closely matches SOTA models (ClimaX, GraphCast) up to 7-day lead times while using a fraction of the computational resources.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008" y="3137594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008" y="3632001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008" y="4126408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900112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2C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414587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4167187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14587"/>
            <a:ext cx="57150" cy="1524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167187"/>
            <a:ext cx="57150" cy="1524000"/>
          </a:xfrm>
          <a:prstGeom prst="rect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971550"/>
            <a:ext cx="133350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47887"/>
            <a:ext cx="5334000" cy="3810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0" y="2166937"/>
            <a:ext cx="5295900" cy="3771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50" y="957262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D4AF37"/>
                </a:solidFill>
                <a:latin typeface="Outfit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319212"/>
            <a:ext cx="116205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Outfit"/>
              </a:rPr>
              <a:t>Advancing "Green AI" in Climate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2719387"/>
            <a:ext cx="612576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4AF37"/>
                </a:solidFill>
                <a:latin typeface="Outfit"/>
              </a:rPr>
              <a:t>Resource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119437"/>
            <a:ext cx="476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Replaces brute-force compute scaling with intelligent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471987"/>
            <a:ext cx="612576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7A33"/>
                </a:solidFill>
                <a:latin typeface="Outfit"/>
              </a:rPr>
              <a:t>Operational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872037"/>
            <a:ext cx="476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Outperforms traditional ECMWF reforecasts across 1-7 day leads.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DADE7-A503-933E-CD25-2F50BF5D34D0}"/>
              </a:ext>
            </a:extLst>
          </p:cNvPr>
          <p:cNvSpPr txBox="1"/>
          <p:nvPr/>
        </p:nvSpPr>
        <p:spPr>
          <a:xfrm>
            <a:off x="628650" y="6415088"/>
            <a:ext cx="890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https://media.istockphoto.com/id/1903972230/photo/top-view-green-forest-with-globe-earth-sustainable-environment-concept-carbon-reduction.jpg?s=612x612&amp;w=0&amp;k=20&amp;c=WGWQakldNZLqVBY6Gfzuvr5JvjjUoPAW8XV7OELQt6Y=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2171700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225998"/>
            <a:ext cx="341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88891" y="3225998"/>
            <a:ext cx="1431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20469" y="3225998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86723" y="3225998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52978" y="3225998"/>
            <a:ext cx="1454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07624" y="3225998"/>
            <a:ext cx="1812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720405"/>
            <a:ext cx="341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88891" y="3720405"/>
            <a:ext cx="1431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0469" y="3720405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86723" y="3720405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52978" y="3720405"/>
            <a:ext cx="1454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07624" y="3720405"/>
            <a:ext cx="1812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214812"/>
            <a:ext cx="341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88891" y="4214812"/>
            <a:ext cx="1431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20469" y="4214812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86723" y="4214812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52978" y="4214812"/>
            <a:ext cx="1454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07624" y="4214812"/>
            <a:ext cx="1812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4709219"/>
            <a:ext cx="341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88891" y="4709219"/>
            <a:ext cx="14315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20469" y="4709219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86723" y="4709219"/>
            <a:ext cx="1466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52978" y="4709219"/>
            <a:ext cx="1454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07624" y="4709219"/>
            <a:ext cx="1812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98124" y="3377505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998124" y="3871912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98124" y="4366319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98124" y="4860726"/>
            <a:ext cx="866775" cy="209550"/>
          </a:xfrm>
          <a:prstGeom prst="roundRect">
            <a:avLst>
              <a:gd name="adj" fmla="val 18181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33350" cy="12382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71500" y="2730698"/>
            <a:ext cx="11049000" cy="2472928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71500" y="2730698"/>
          <a:ext cx="11048997" cy="247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458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Metric 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1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3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5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Day 7 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Outfit"/>
                        </a:rPr>
                        <a:t>VS. ECMWF S2S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5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Z500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(Geopotential 500hPa) [m²/s²]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62.4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210.5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435.1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672.8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5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T850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(Temperature 850hPa) [K]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5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T2M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(2m Surface Temperature) [K]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58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MSL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 (Mean Sea Level Press.) [hPa]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7.20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11.15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33450" y="533400"/>
            <a:ext cx="1752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EXPERIMENTAL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Forecast RMSE Across Lead Times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4324" y="3396555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4324" y="3890962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4324" y="4385369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4324" y="4879776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002244"/>
                </a:solidFill>
                <a:latin typeface="Inter"/>
              </a:rPr>
              <a:t>Outperforms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1933575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314575"/>
            <a:ext cx="3530649" cy="3305175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2314575"/>
            <a:ext cx="3530649" cy="3305175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89999" y="2314575"/>
            <a:ext cx="3530649" cy="3305175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5240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466975"/>
            <a:ext cx="3225849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49" y="2466975"/>
            <a:ext cx="3225849" cy="190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399" y="2466975"/>
            <a:ext cx="3225849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466975"/>
            <a:ext cx="3225849" cy="190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149" y="2466975"/>
            <a:ext cx="322584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2399" y="2466975"/>
            <a:ext cx="3225849" cy="190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500" y="533400"/>
            <a:ext cx="14954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REGIONAL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Ablation Impact Across Global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505325"/>
            <a:ext cx="423392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2244"/>
                </a:solidFill>
                <a:latin typeface="Outfit"/>
              </a:rPr>
              <a:t>High Latitudes &amp; Poles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781550"/>
            <a:ext cx="3321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Geocyclic Padding eliminates edge distortion, drastically reducing polar temperature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149" y="4505325"/>
            <a:ext cx="423392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2244"/>
                </a:solidFill>
                <a:latin typeface="Outfit"/>
              </a:rPr>
              <a:t>Equatorial Convection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149" y="4781550"/>
            <a:ext cx="3321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SENet improves tropical Z500 ACC by dynamically weighting multi-layer wind and pressure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2399" y="4505325"/>
            <a:ext cx="3949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2244"/>
                </a:solidFill>
                <a:latin typeface="Outfit"/>
              </a:rPr>
              <a:t>Mid-Latitude Storm Tracks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399" y="4781550"/>
            <a:ext cx="3321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Combined architecture maintains continuous jet stream dynamics without artificial lateral damping.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4F80D6-ECE6-C3DE-751D-1CD41C216E5D}"/>
              </a:ext>
            </a:extLst>
          </p:cNvPr>
          <p:cNvSpPr txBox="1"/>
          <p:nvPr/>
        </p:nvSpPr>
        <p:spPr>
          <a:xfrm>
            <a:off x="5764261" y="6378267"/>
            <a:ext cx="890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https://substackcdn.com/image/fetch/$s_!_9E9!,f_auto,q_auto:good,fl_progressive:steep/https%3A%2F%2Fsubstack-post-media.s3.amazonaws.com%2Fpublic%2Fimages%2F0b6f502e-50d4-4403-8db7-0f0639c9f281_2500x1500.jpeg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48CF2F-18D3-DFC2-BFC8-0BE5E3EE6657}"/>
              </a:ext>
            </a:extLst>
          </p:cNvPr>
          <p:cNvSpPr txBox="1"/>
          <p:nvPr/>
        </p:nvSpPr>
        <p:spPr>
          <a:xfrm>
            <a:off x="134002" y="6378267"/>
            <a:ext cx="498914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https://earthdata.nasa.gov/s3fs-public/styles/hds_hero_half/public/2025-11/ccmp-project-hero-1.jpg?VersionId=zACjBMdhhsKdXUC8XWQsKSU4u8ekZ0GV&amp;itok=vQPE6D5d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58904D-FE97-0235-78DB-7A019B2CE702}"/>
              </a:ext>
            </a:extLst>
          </p:cNvPr>
          <p:cNvSpPr txBox="1"/>
          <p:nvPr/>
        </p:nvSpPr>
        <p:spPr>
          <a:xfrm>
            <a:off x="177844" y="6135380"/>
            <a:ext cx="6036468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https://svs.gsfc.nasa.gov/vis/a000000/a005400/a005450/2024GISTEMPMap.png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76250"/>
            <a:ext cx="1038225" cy="266700"/>
          </a:xfrm>
          <a:prstGeom prst="roundRect">
            <a:avLst>
              <a:gd name="adj" fmla="val 50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24075"/>
            <a:ext cx="5334000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3352800"/>
            <a:ext cx="5334000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4581525"/>
            <a:ext cx="5334000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47687"/>
            <a:ext cx="15240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1162"/>
            <a:ext cx="533400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81162"/>
            <a:ext cx="5334000" cy="457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34791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57663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805362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533400"/>
            <a:ext cx="6000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3366"/>
                </a:solidFill>
                <a:latin typeface="Outfit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895350"/>
            <a:ext cx="11620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2352675"/>
            <a:ext cx="45148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3366"/>
                </a:solidFill>
                <a:latin typeface="Inter"/>
              </a:rPr>
              <a:t>Proof of Green AI:</a:t>
            </a:r>
            <a:r>
              <a:rPr sz="1350" b="1" i="0" u="none">
                <a:solidFill>
                  <a:srgbClr val="003366"/>
                </a:solidFill>
                <a:latin typeface="Inter"/>
              </a:rPr>
              <a:t> Smart design beats raw compute scaling.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581400"/>
            <a:ext cx="45148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3366"/>
                </a:solidFill>
                <a:latin typeface="Inter"/>
              </a:rPr>
              <a:t>Surpasses Tradition:</a:t>
            </a:r>
            <a:r>
              <a:rPr sz="1350" b="1" i="0" u="none">
                <a:solidFill>
                  <a:srgbClr val="003366"/>
                </a:solidFill>
                <a:latin typeface="Inter"/>
              </a:rPr>
              <a:t> Beats ECMWF S2S operational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810125"/>
            <a:ext cx="45148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3366"/>
                </a:solidFill>
                <a:latin typeface="Inter"/>
              </a:rPr>
              <a:t>Global Access:</a:t>
            </a:r>
            <a:r>
              <a:rPr sz="1350" b="1" i="0" u="none">
                <a:solidFill>
                  <a:srgbClr val="003366"/>
                </a:solidFill>
                <a:latin typeface="Inter"/>
              </a:rPr>
              <a:t> Runs forecasts locally on small GPU clusters.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186B5-39AD-9469-8BCE-3715A20B0F5A}"/>
              </a:ext>
            </a:extLst>
          </p:cNvPr>
          <p:cNvSpPr txBox="1"/>
          <p:nvPr/>
        </p:nvSpPr>
        <p:spPr>
          <a:xfrm>
            <a:off x="6190547" y="6369843"/>
            <a:ext cx="8358187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https://blog.wfsu.org/blog-coastal-health/wp-content/uploads/2025/09/Hyperspectral_True_Color-1200-copy.jpg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66380" y="2574881"/>
            <a:ext cx="5969899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600" b="1" i="0" u="none" dirty="0">
                <a:solidFill>
                  <a:srgbClr val="FFFFFF"/>
                </a:solidFill>
                <a:latin typeface="Outfit"/>
              </a:rPr>
              <a:t>Thank You </a:t>
            </a:r>
            <a:endParaRPr sz="9600" b="1" i="0" u="none" dirty="0">
              <a:solidFill>
                <a:srgbClr val="FFFFFF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3000" y="1704975"/>
            <a:ext cx="9906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3000" y="2476500"/>
            <a:ext cx="9906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3419475"/>
            <a:ext cx="9906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4191000"/>
            <a:ext cx="9906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4962525"/>
            <a:ext cx="9906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3000" y="24669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24669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340995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340995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41814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41814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495300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495300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3000" y="58959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58959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478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05100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235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33387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191125"/>
            <a:ext cx="857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6048375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1047750"/>
            <a:ext cx="11049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02244"/>
                </a:solidFill>
                <a:latin typeface="Outfit"/>
              </a:rPr>
              <a:t>Image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8375" y="1854993"/>
            <a:ext cx="619125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https://nvidianews.nvidia.com/_gallery/get_file/?file_id=682989ae3d6332f015179abf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8375" y="2088356"/>
            <a:ext cx="2797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nvidianews.nvidia.com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8375" y="2619375"/>
            <a:ext cx="890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https://elements-resized.envatousercontent.com/elements-video-cover-images/2ee0cc55-7376-4c5b-83b9-79768a13fb83/video_preview/video_preview_0000.jpg?w=500&amp;cf_fit=cover&amp;q=85&amp;format=auto&amp;s=ad6f66c219e04d5e23509c627e5cd217a4dd527d4fab84887f60af5f52ff5f11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8375" y="3038475"/>
            <a:ext cx="2667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8375" y="3569493"/>
            <a:ext cx="6965156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https://wmo.int/sites/default/files/2023-11/Screenshot%202023-11-24%20at%2015.04.32.png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8375" y="3802856"/>
            <a:ext cx="1464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wmo.int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8375" y="4341018"/>
            <a:ext cx="8727281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https://cdn.britannica.com/03/5503-050-184F70BE/surface-pressure-altitude-Earth-Examination-data-relationship.jpg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8375" y="4574381"/>
            <a:ext cx="2595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www.britannica.com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8375" y="5105400"/>
            <a:ext cx="890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https://media.istockphoto.com/id/1903972230/photo/top-view-green-forest-with-globe-earth-sustainable-environment-concept-carbon-reduction.jpg?s=612x612&amp;w=0&amp;k=20&amp;c=WGWQakldNZLqVBY6Gfzuvr5JvjjUoPAW8XV7OELQt6Y=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8375" y="5524500"/>
            <a:ext cx="27741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8375" y="6055518"/>
            <a:ext cx="6036468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Inter"/>
              </a:rPr>
              <a:t>https://svs.gsfc.nasa.gov/vis/a000000/a005400/a005450/2024GISTEMPMap.png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8375" y="6288881"/>
            <a:ext cx="2381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svs.gsfc.nasa.gov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20ec589-a866-4ad0-9a57-e6049e0d3bc0}" enabled="0" method="" siteId="{420ec589-a866-4ad0-9a57-e6049e0d3b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Subramanian</cp:lastModifiedBy>
  <cp:revision>2</cp:revision>
  <dcterms:created xsi:type="dcterms:W3CDTF">2013-01-27T09:14:16Z</dcterms:created>
  <dcterms:modified xsi:type="dcterms:W3CDTF">2026-09-14T15:08:56Z</dcterms:modified>
  <cp:category/>
</cp:coreProperties>
</file>